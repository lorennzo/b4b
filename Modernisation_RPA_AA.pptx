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Modernisation de la Plateforme RPA – Automation Anywhere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Propositions d'améliorations et d'optimisation de la gouvernance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Créer une infrastructure RPA intelligente où gouvernance, performance et maintenance sont pilotées par la donnée. Objectif : réduire les frictions tout en offrant une vue 360° temps réel des robots et de leur impact métier.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Workflow Jira/Confluence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• Workflow trop </a:t>
            </a:r>
            <a:r>
              <a:rPr dirty="0" err="1"/>
              <a:t>détaillé</a:t>
            </a:r>
            <a:r>
              <a:rPr dirty="0"/>
              <a:t>, </a:t>
            </a:r>
            <a:r>
              <a:rPr dirty="0" err="1"/>
              <a:t>ralentissant</a:t>
            </a:r>
            <a:r>
              <a:rPr dirty="0"/>
              <a:t> les transitions.</a:t>
            </a:r>
          </a:p>
          <a:p>
            <a:r>
              <a:rPr dirty="0"/>
              <a:t>• Simplification </a:t>
            </a:r>
            <a:r>
              <a:rPr dirty="0" err="1"/>
              <a:t>recommandée</a:t>
            </a:r>
            <a:r>
              <a:rPr dirty="0"/>
              <a:t> : </a:t>
            </a:r>
            <a:r>
              <a:rPr dirty="0" err="1"/>
              <a:t>statuts</a:t>
            </a:r>
            <a:r>
              <a:rPr dirty="0"/>
              <a:t> </a:t>
            </a:r>
            <a:r>
              <a:rPr dirty="0" err="1"/>
              <a:t>essentiels</a:t>
            </a:r>
            <a:r>
              <a:rPr dirty="0"/>
              <a:t> (</a:t>
            </a:r>
            <a:r>
              <a:rPr dirty="0" err="1"/>
              <a:t>Ouvert</a:t>
            </a:r>
            <a:r>
              <a:rPr dirty="0"/>
              <a:t> →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 → À </a:t>
            </a:r>
            <a:r>
              <a:rPr dirty="0" err="1"/>
              <a:t>valider</a:t>
            </a:r>
            <a:r>
              <a:rPr dirty="0"/>
              <a:t> → Fermé).</a:t>
            </a:r>
          </a:p>
          <a:p>
            <a:r>
              <a:rPr dirty="0"/>
              <a:t>• </a:t>
            </a:r>
            <a:r>
              <a:rPr dirty="0" err="1"/>
              <a:t>Connecteur</a:t>
            </a:r>
            <a:r>
              <a:rPr dirty="0"/>
              <a:t> AA ↔ Jira pour </a:t>
            </a:r>
            <a:r>
              <a:rPr dirty="0" err="1"/>
              <a:t>suivi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des bots.</a:t>
            </a:r>
          </a:p>
          <a:p>
            <a:r>
              <a:rPr dirty="0"/>
              <a:t>• </a:t>
            </a:r>
            <a:r>
              <a:rPr dirty="0" err="1"/>
              <a:t>Génération</a:t>
            </a:r>
            <a:r>
              <a:rPr dirty="0"/>
              <a:t> auto de documentation dans Confluence.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Optimisation des licences VDI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Actuellement sous-utilisées (1h/jour).</a:t>
            </a:r>
          </a:p>
          <a:p>
            <a:r>
              <a:t>• Implémentation de Dynamic Bot Runners.</a:t>
            </a:r>
          </a:p>
          <a:p>
            <a:r>
              <a:t>• Attribution dynamique selon charge et SLA.</a:t>
            </a:r>
          </a:p>
          <a:p>
            <a:r>
              <a:t>• KPI : Licence Utilization Rate (heures utilisées / disponibles).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3️⃣ Redémarrage automatique des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Script PowerShell + API Control Room pour reboot automatique.</a:t>
            </a:r>
          </a:p>
          <a:p>
            <a:r>
              <a:t>• Vérification avant/après redémarrage.</a:t>
            </a:r>
          </a:p>
          <a:p>
            <a:r>
              <a:t>• Notification Teams post-reboot pour suivi du statut.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4️⃣ Gestion des logins et mots de passe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Changement tous les 15 jours = instabilité.</a:t>
            </a:r>
          </a:p>
          <a:p>
            <a:r>
              <a:t>• Centralisation via Credential Vault AA.</a:t>
            </a:r>
          </a:p>
          <a:p>
            <a:r>
              <a:t>• Mise à jour automatisée des credentials.</a:t>
            </a:r>
          </a:p>
          <a:p>
            <a:r>
              <a:t>• Dashboard de suivi des expirations (Power BI / Control Room).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Cartographie des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Vue </a:t>
            </a:r>
            <a:r>
              <a:rPr dirty="0" err="1"/>
              <a:t>consolidée</a:t>
            </a:r>
            <a:r>
              <a:rPr dirty="0"/>
              <a:t> : flux, </a:t>
            </a:r>
            <a:r>
              <a:rPr dirty="0" err="1"/>
              <a:t>comptes</a:t>
            </a:r>
            <a:r>
              <a:rPr dirty="0"/>
              <a:t>, applications, owners.</a:t>
            </a:r>
          </a:p>
          <a:p>
            <a:r>
              <a:rPr dirty="0"/>
              <a:t>• Base </a:t>
            </a:r>
            <a:r>
              <a:rPr dirty="0" err="1"/>
              <a:t>enrichie</a:t>
            </a:r>
            <a:r>
              <a:rPr dirty="0"/>
              <a:t> avec tags (Finance, SAP, Critique...).</a:t>
            </a:r>
          </a:p>
          <a:p>
            <a:r>
              <a:rPr dirty="0"/>
              <a:t>• </a:t>
            </a:r>
            <a:r>
              <a:rPr dirty="0" err="1"/>
              <a:t>Visualisation</a:t>
            </a:r>
            <a:r>
              <a:rPr dirty="0"/>
              <a:t> </a:t>
            </a:r>
            <a:r>
              <a:rPr dirty="0" err="1"/>
              <a:t>dynamique</a:t>
            </a:r>
            <a:r>
              <a:rPr dirty="0"/>
              <a:t> via Neo4j + Power BI.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KPI RPA (Équipe + Métier)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Taux</a:t>
            </a:r>
            <a:r>
              <a:rPr dirty="0"/>
              <a:t> </a:t>
            </a:r>
            <a:r>
              <a:rPr dirty="0" err="1"/>
              <a:t>d’utilisation</a:t>
            </a:r>
            <a:r>
              <a:rPr dirty="0"/>
              <a:t> </a:t>
            </a:r>
            <a:r>
              <a:rPr dirty="0" err="1"/>
              <a:t>licence</a:t>
            </a:r>
            <a:r>
              <a:rPr dirty="0"/>
              <a:t>.</a:t>
            </a:r>
          </a:p>
          <a:p>
            <a:r>
              <a:rPr dirty="0"/>
              <a:t>• Temps </a:t>
            </a:r>
            <a:r>
              <a:rPr dirty="0" err="1"/>
              <a:t>moyen</a:t>
            </a:r>
            <a:r>
              <a:rPr dirty="0"/>
              <a:t> de </a:t>
            </a:r>
            <a:r>
              <a:rPr dirty="0" err="1"/>
              <a:t>résolution</a:t>
            </a:r>
            <a:r>
              <a:rPr dirty="0"/>
              <a:t> bug bot (Jira).</a:t>
            </a:r>
          </a:p>
          <a:p>
            <a:r>
              <a:rPr dirty="0"/>
              <a:t>• Impact métier (€ / </a:t>
            </a:r>
            <a:r>
              <a:rPr dirty="0" err="1"/>
              <a:t>heure</a:t>
            </a:r>
            <a:r>
              <a:rPr dirty="0"/>
              <a:t> </a:t>
            </a:r>
            <a:r>
              <a:rPr dirty="0" err="1"/>
              <a:t>gagnée</a:t>
            </a:r>
            <a:r>
              <a:rPr dirty="0"/>
              <a:t>).</a:t>
            </a:r>
          </a:p>
          <a:p>
            <a:r>
              <a:rPr dirty="0"/>
              <a:t>• </a:t>
            </a:r>
            <a:r>
              <a:rPr dirty="0" err="1"/>
              <a:t>Taux</a:t>
            </a:r>
            <a:r>
              <a:rPr dirty="0"/>
              <a:t> de </a:t>
            </a:r>
            <a:r>
              <a:rPr dirty="0" err="1"/>
              <a:t>réutilisation</a:t>
            </a:r>
            <a:r>
              <a:rPr dirty="0"/>
              <a:t> des </a:t>
            </a:r>
            <a:r>
              <a:rPr dirty="0" err="1"/>
              <a:t>composants</a:t>
            </a:r>
            <a:r>
              <a:rPr dirty="0"/>
              <a:t> AA.</a:t>
            </a:r>
            <a:endParaRPr lang="fr-FR" dirty="0"/>
          </a:p>
          <a:p>
            <a:r>
              <a:rPr lang="fr-FR" dirty="0"/>
              <a:t>Taux de maintenance / bot</a:t>
            </a:r>
            <a:endParaRPr dirty="0"/>
          </a:p>
          <a:p>
            <a:r>
              <a:rPr dirty="0"/>
              <a:t>• Dashboard Power BI </a:t>
            </a:r>
            <a:r>
              <a:rPr dirty="0" err="1"/>
              <a:t>intégré</a:t>
            </a:r>
            <a:r>
              <a:rPr dirty="0"/>
              <a:t> Control Room + Jira.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81A0ED-3786-4592-BE5B-03907992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6D70FECD-6522-42E4-9590-69D614F411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819406"/>
          <a:ext cx="8229599" cy="40875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856">
                  <a:extLst>
                    <a:ext uri="{9D8B030D-6E8A-4147-A177-3AD203B41FA5}">
                      <a16:colId xmlns:a16="http://schemas.microsoft.com/office/drawing/2014/main" val="3596365702"/>
                    </a:ext>
                  </a:extLst>
                </a:gridCol>
                <a:gridCol w="1398464">
                  <a:extLst>
                    <a:ext uri="{9D8B030D-6E8A-4147-A177-3AD203B41FA5}">
                      <a16:colId xmlns:a16="http://schemas.microsoft.com/office/drawing/2014/main" val="2876479404"/>
                    </a:ext>
                  </a:extLst>
                </a:gridCol>
                <a:gridCol w="1661812">
                  <a:extLst>
                    <a:ext uri="{9D8B030D-6E8A-4147-A177-3AD203B41FA5}">
                      <a16:colId xmlns:a16="http://schemas.microsoft.com/office/drawing/2014/main" val="2506665882"/>
                    </a:ext>
                  </a:extLst>
                </a:gridCol>
                <a:gridCol w="1634569">
                  <a:extLst>
                    <a:ext uri="{9D8B030D-6E8A-4147-A177-3AD203B41FA5}">
                      <a16:colId xmlns:a16="http://schemas.microsoft.com/office/drawing/2014/main" val="3580989229"/>
                    </a:ext>
                  </a:extLst>
                </a:gridCol>
                <a:gridCol w="1627758">
                  <a:extLst>
                    <a:ext uri="{9D8B030D-6E8A-4147-A177-3AD203B41FA5}">
                      <a16:colId xmlns:a16="http://schemas.microsoft.com/office/drawing/2014/main" val="909967281"/>
                    </a:ext>
                  </a:extLst>
                </a:gridCol>
                <a:gridCol w="1362140">
                  <a:extLst>
                    <a:ext uri="{9D8B030D-6E8A-4147-A177-3AD203B41FA5}">
                      <a16:colId xmlns:a16="http://schemas.microsoft.com/office/drawing/2014/main" val="1998072857"/>
                    </a:ext>
                  </a:extLst>
                </a:gridCol>
              </a:tblGrid>
              <a:tr h="136252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Usage opérationnel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KPI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Description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Formule / Méthode de calcul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Source de données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2576743358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1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Fiabilité globale des bots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de réussite d’exécution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Pourcentage de runs terminés sans erreur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(Runs réussis / Total runs) × 100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Control Room Logs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630593072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2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Optimisation des performances des bots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Temps moyen d’exécution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Durée moyenne d’une éxécution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Somme des durées / Nb runs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Control Room Metrics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1707757242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Capacité d’auto-guérison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de redémarrage automatique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Bots relancés automatiquement avec succès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Relances réussies / Total erreurs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Scheduler + Logs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2173785450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3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Identifier dette technique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de scripts obsolètes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Bots non mis à jour depuis X mois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Bots obsolètes / Total bots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Repository AA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3877918308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Aide à la priorisation corrective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d’erreurs par type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Catégorisation des erreurs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Nb erreurs type A / Total erreurs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Error Reports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3941886446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4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Ajuster nombre de licences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d’utilisation des licences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Mesure de la charge réelle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Heures d’utilisation / Heures disponibles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Licensing Dashboard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451995861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5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Identifier sous/sur-utilisation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Bots actifs par runner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Nombre moyen de bots exécutés / runner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Total bots actifs / Nb runners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Control Room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1863365994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Maturité d’orchestration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d’exécutions planifiées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Automatisation du déclenchement des runs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Runs planifiés / Total runs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Scheduler Logs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3021944502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6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Stabilité de l’infrastructure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Disponibilité des machines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Disponibilité des runners (VDI)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(Temps up / Temps total) × 100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Monitoring + Control Room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5531006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7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Suivi de la vélocité projet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Temps moyen de mise en production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Durée entre fin de dev et mise en prod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Date prod - Date dev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Jira + Control Room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3343356589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Mesurer la standardisation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de réutilisation de composants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Réemploi de blocs AA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Nb composants réutilisés / Total composants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Repository AA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588301672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Suivi qualité code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de conformité développement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Respect des standards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Bots conformes / Total bots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Jira + Review Logs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1414774484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8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Maintenabilité et transfert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de bots documentés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Bots disposant d’une fiche complète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Bots documentés / Total bots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Confluence + Metadata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2943175674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Suivi qualité logicielle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Nombre moyen de correctifs par bot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Volume de bugs rapportés par bot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Bugs / Bots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Jira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1662084970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9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Efficacité de l’équipe support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Durée moyenne de correction (MTTR)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Temps de résolution moyen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Temps correction / Nb incidents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Jira + Logs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3102977860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10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Communication ROI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Heures humaines économisées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Temps robotisé converti en FTE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∑ (durée run × fréquence)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Control Room + Process Owner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2359205106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11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Justifier investissements RPA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Valeur économique générée (€)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Gains financiers estimés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Heures économisées × coût horaire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AA + Données RH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4198807754"/>
                  </a:ext>
                </a:extLst>
              </a:tr>
              <a:tr h="272503"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Pilotage stratégique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d’automatisation par processus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Niveau de couverture des processus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Processus automatisés / Total processus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Discovery + Portfolio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2749624693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12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Mesure de la culture RPA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Taux d’adoption RPA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Implication métier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Processus proposés / Équipes totales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Pipeline d’idées RPA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1374400970"/>
                  </a:ext>
                </a:extLst>
              </a:tr>
              <a:tr h="136252">
                <a:tc>
                  <a:txBody>
                    <a:bodyPr/>
                    <a:lstStyle/>
                    <a:p>
                      <a:pPr algn="r" fontAlgn="b"/>
                      <a:r>
                        <a:rPr lang="fr-FR" sz="800" u="none" strike="noStrike">
                          <a:effectLst/>
                        </a:rPr>
                        <a:t>13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Feedback sur la valeur perçue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Satisfaction utilisateur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Niveau de satisfaction des métiers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Moyenne score CSAT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 dirty="0">
                          <a:effectLst/>
                        </a:rPr>
                        <a:t>Enquêtes internes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3" marR="6813" marT="6813" marB="0" anchor="ctr"/>
                </a:tc>
                <a:extLst>
                  <a:ext uri="{0D108BD9-81ED-4DB2-BD59-A6C34878D82A}">
                    <a16:rowId xmlns:a16="http://schemas.microsoft.com/office/drawing/2014/main" val="1479458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190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7️⃣ Organisation des répertoires &amp; purge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Convention stricte : /Bots/Finance/.../Input, Output, Temp.</a:t>
            </a:r>
          </a:p>
          <a:p>
            <a:r>
              <a:t>• Purge automatique planifiée (PowerShell/AA script).</a:t>
            </a:r>
          </a:p>
          <a:p>
            <a:r>
              <a:t>• Log d’audit intégré au Control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Roadmap d’évolution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T1 : Workflow </a:t>
            </a:r>
            <a:r>
              <a:rPr dirty="0" err="1"/>
              <a:t>simplifié</a:t>
            </a:r>
            <a:r>
              <a:rPr dirty="0"/>
              <a:t> + </a:t>
            </a:r>
            <a:r>
              <a:rPr dirty="0" err="1"/>
              <a:t>intégration</a:t>
            </a:r>
            <a:r>
              <a:rPr dirty="0"/>
              <a:t> Jira → +20% </a:t>
            </a:r>
            <a:r>
              <a:rPr dirty="0" err="1"/>
              <a:t>vélocité</a:t>
            </a:r>
            <a:r>
              <a:rPr dirty="0"/>
              <a:t>.</a:t>
            </a:r>
          </a:p>
          <a:p>
            <a:r>
              <a:rPr dirty="0"/>
              <a:t>T2 : </a:t>
            </a:r>
            <a:r>
              <a:rPr dirty="0" err="1"/>
              <a:t>Mutualisation</a:t>
            </a:r>
            <a:r>
              <a:rPr dirty="0"/>
              <a:t> </a:t>
            </a:r>
            <a:r>
              <a:rPr dirty="0" err="1"/>
              <a:t>licences</a:t>
            </a:r>
            <a:r>
              <a:rPr dirty="0"/>
              <a:t> → -40% budget runner.</a:t>
            </a:r>
          </a:p>
          <a:p>
            <a:r>
              <a:rPr dirty="0"/>
              <a:t>T3 : </a:t>
            </a:r>
            <a:r>
              <a:rPr dirty="0" err="1"/>
              <a:t>Redémarrage</a:t>
            </a:r>
            <a:r>
              <a:rPr dirty="0"/>
              <a:t> &amp; Vault → +30% uptime.</a:t>
            </a:r>
          </a:p>
          <a:p>
            <a:r>
              <a:rPr dirty="0"/>
              <a:t>T4 : </a:t>
            </a:r>
            <a:r>
              <a:rPr dirty="0" err="1"/>
              <a:t>Cartographie</a:t>
            </a:r>
            <a:r>
              <a:rPr dirty="0"/>
              <a:t> + KPI → Vision 360°.</a:t>
            </a:r>
          </a:p>
          <a:p>
            <a:r>
              <a:rPr dirty="0"/>
              <a:t>T5 : Purge &amp; </a:t>
            </a:r>
            <a:r>
              <a:rPr dirty="0" err="1"/>
              <a:t>standardisation</a:t>
            </a:r>
            <a:r>
              <a:rPr dirty="0"/>
              <a:t> → maintenance </a:t>
            </a:r>
            <a:r>
              <a:rPr dirty="0" err="1"/>
              <a:t>optimisée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856</Words>
  <Application>Microsoft Office PowerPoint</Application>
  <PresentationFormat>Affichage à l'écran (4:3)</PresentationFormat>
  <Paragraphs>162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Modernisation de la Plateforme RPA – Automation Anywhere</vt:lpstr>
      <vt:lpstr>Vision globale</vt:lpstr>
      <vt:lpstr>1️⃣ Workflow Jira/Confluence</vt:lpstr>
      <vt:lpstr>2️⃣ Optimisation des licences VDI</vt:lpstr>
      <vt:lpstr>3️⃣ Redémarrage automatique des machines</vt:lpstr>
      <vt:lpstr>4️⃣ Gestion des logins et mots de passe</vt:lpstr>
      <vt:lpstr>5️⃣ Cartographie des robots</vt:lpstr>
      <vt:lpstr>6️⃣ KPI RPA (Équipe + Métier)</vt:lpstr>
      <vt:lpstr>Présentation PowerPoint</vt:lpstr>
      <vt:lpstr>7️⃣ Organisation des répertoires &amp; purge</vt:lpstr>
      <vt:lpstr>🚀 Roadmap d’évolution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Modernisation de la Plateforme RPA – Automation Anywhere</dc:title>
  <dc:subject/>
  <dc:creator/>
  <cp:keywords/>
  <dc:description>generated using python-pptx</dc:description>
  <cp:lastModifiedBy>Laurent</cp:lastModifiedBy>
  <cp:revision>4</cp:revision>
  <dcterms:created xsi:type="dcterms:W3CDTF">2013-01-27T09:14:16Z</dcterms:created>
  <dcterms:modified xsi:type="dcterms:W3CDTF">2025-11-09T15:16:12Z</dcterms:modified>
  <cp:category/>
</cp:coreProperties>
</file>